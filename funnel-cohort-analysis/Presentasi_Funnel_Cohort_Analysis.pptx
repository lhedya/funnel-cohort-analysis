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3A5F"/>
                </a:solidFill>
                <a:latin typeface="Arial"/>
              </a:rPr>
              <a:t>Churn Rate di Period 1 per Cohort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Period 1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95.05</c:v>
                </c:pt>
                <c:pt idx="1">
                  <c:v>97.36</c:v>
                </c:pt>
                <c:pt idx="2">
                  <c:v>94.73</c:v>
                </c:pt>
                <c:pt idx="3">
                  <c:v>95.53</c:v>
                </c:pt>
                <c:pt idx="4">
                  <c:v>95.58</c:v>
                </c:pt>
                <c:pt idx="5">
                  <c:v>96.01</c:v>
                </c:pt>
                <c:pt idx="6">
                  <c:v>95.47</c:v>
                </c:pt>
                <c:pt idx="7">
                  <c:v>95.67</c:v>
                </c:pt>
                <c:pt idx="8">
                  <c:v>95.57</c:v>
                </c:pt>
                <c:pt idx="9">
                  <c:v>94.75</c:v>
                </c:pt>
                <c:pt idx="10">
                  <c:v>95.68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5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457200"/>
            <a:ext cx="5029200" cy="5029200"/>
          </a:xfrm>
          <a:prstGeom prst="ellipse">
            <a:avLst/>
          </a:prstGeom>
          <a:solidFill>
            <a:srgbClr val="2E75B6">
              <a:alpha val="20000"/>
            </a:srgbClr>
          </a:solidFill>
          <a:ln w="12700">
            <a:solidFill>
              <a:srgbClr val="2E75B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3200400" cy="32004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ANALISIS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Funnel Analysis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Cohort Analysis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32004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Growth Insights  |  Data Science Bootcamp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Python (Google Colab)  &amp;  Power BI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E75B6">
              <a:alpha val="50000"/>
            </a:srgbClr>
          </a:solidFill>
          <a:ln w="12700">
            <a:solidFill>
              <a:srgbClr val="2E75B6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73152" cy="50886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 yang akan dibahas?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9144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9728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10972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Perbedaan Funnel &amp; Cohort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4173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Definisi, karakteristik, dan kapan digunakan masing-masing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9144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01168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20116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Analysis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3317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visualisasi, dan insight dari funnel e-commerce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9144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92608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29260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Analysis &amp; Dashboard Power BI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2461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Dataset, heatmap retensi, dan pembacaan dashboard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9144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384048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63040" y="38404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 Analysis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1605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 churn tertinggi terjadi &amp; rekomendasi strategis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Funnel Analysis vs Cohort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749040"/>
          </a:xfrm>
          <a:prstGeom prst="rect">
            <a:avLst/>
          </a:prstGeom>
          <a:solidFill>
            <a:srgbClr val="E8F4F8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393192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🔽  FUNNEL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konversi pengguna step-by-step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305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Mengukur drop-off di setiap tahap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6946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pada satu titik waktu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0837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Conversion rate per tahap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472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Optimasi UX &amp; Checkout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097280"/>
            <a:ext cx="3931920" cy="3749040"/>
          </a:xfrm>
          <a:prstGeom prst="rect">
            <a:avLst/>
          </a:prstGeom>
          <a:solidFill>
            <a:srgbClr val="E8F8EF"/>
          </a:solidFill>
          <a:ln w="12700">
            <a:solidFill>
              <a:srgbClr val="0079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1097280"/>
            <a:ext cx="3931920" cy="4572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COHORT ANALYSIS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16916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Pelanggan dikelompokkan per bulan akuisisi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21305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Melacak retensi dari waktu ke waktu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256946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Longitudinal (time-series behavior)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300837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Retention rate matrix/heatmap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34472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Churn, LTV, Loyalty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0" y="2560320"/>
            <a:ext cx="914400" cy="914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Funnel Analysis – Data &amp; Visualisasi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097280"/>
            <a:ext cx="77724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09728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6120" y="1097280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21,296 users  |  100%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1801368"/>
            <a:ext cx="6400800" cy="5303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08760" y="180136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1801368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28,921 users  |  35.80%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37360" y="2505456"/>
            <a:ext cx="5669280" cy="5303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74520" y="250545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2505456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28,921 users  |  0.00%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94560" y="3209544"/>
            <a:ext cx="4754880" cy="53035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31720" y="320954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209544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28,941 users  |  0.07%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3913632"/>
            <a:ext cx="3657600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880360" y="391363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3913632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21,768 users  |  -24.78%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Funnel Analysis – Key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005840"/>
          </a:xfrm>
          <a:prstGeom prst="rect">
            <a:avLst/>
          </a:prstGeom>
          <a:solidFill>
            <a:srgbClr val="F4F7F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Home → Product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21.296 pengguna masuk halaman home sebagai baseline 100% funnel.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4206240" cy="1005840"/>
          </a:xfrm>
          <a:prstGeom prst="rect">
            <a:avLst/>
          </a:prstGeom>
          <a:solidFill>
            <a:srgbClr val="F4F7FB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86000"/>
            <a:ext cx="64008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🛍️ Product Anomaly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28.921 users di product page (lebih tinggi dari home). Kemungkinan direct traffic langsung ke halaman produk.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474720"/>
            <a:ext cx="4206240" cy="1005840"/>
          </a:xfrm>
          <a:prstGeom prst="rect">
            <a:avLst/>
          </a:prstGeom>
          <a:solidFill>
            <a:srgbClr val="F4F7FB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474720"/>
            <a:ext cx="64008" cy="10058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204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Cart = 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886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 0% dari product ke cart mengindikasikan semua user produk masuk ke cart (data terkonversi penuh).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4206240" cy="1005840"/>
          </a:xfrm>
          <a:prstGeom prst="rect">
            <a:avLst/>
          </a:prstGeom>
          <a:solidFill>
            <a:srgbClr val="F4F7FB"/>
          </a:solidFill>
          <a:ln w="12700">
            <a:solidFill>
              <a:srgbClr val="0079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97280"/>
            <a:ext cx="64008" cy="10058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Purchase ~0.07%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1508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Hampir semua pengguna di cart berhasil melakukan pembelian — conversion checkout sangat baik.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286000"/>
            <a:ext cx="4206240" cy="1005840"/>
          </a:xfrm>
          <a:prstGeom prst="rect">
            <a:avLst/>
          </a:prstGeom>
          <a:solidFill>
            <a:srgbClr val="F4F7F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286000"/>
            <a:ext cx="64008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331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Cancel -24.78% (Red Flag!)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697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21.768 pembatalan — lebih dari 75% pembelian dibatalkan. Ini adalah titik kritis yang membutuhkan perhatian segera.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Cohort Analysis – Dataset &amp; Dashboard Power BI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80160"/>
            <a:ext cx="640080" cy="6400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234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Python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Membaca dataset, membersihkan data, membuat CohortGroup dari first purchase date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280160"/>
            <a:ext cx="640080" cy="6400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0" y="1234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0" y="16916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Menghitung CohortPeriod (selisih bulan) dan RetentionRate per cohort dan periode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063240"/>
            <a:ext cx="640080" cy="6400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Dataset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4747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Mengekspor dataset 3 kolom: CohortGroup, CohortPeriod, RetentionRate ke format CSV/Excel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063240"/>
            <a:ext cx="640080" cy="6400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34747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matrix/heatmap cohort dengan conditional formatting warna kuning untuk highlight retensi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06240" y="17373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206240" y="34747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206240" y="23774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Cohort Retention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109728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80160" y="1005840"/>
            <a:ext cx="54864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00584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0" y="1005840"/>
            <a:ext cx="54864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00584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77440" y="1005840"/>
            <a:ext cx="54864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00584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26080" y="1005840"/>
            <a:ext cx="54864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00584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0" y="1005840"/>
            <a:ext cx="54864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00584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023360" y="1005840"/>
            <a:ext cx="54864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100584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0" y="1005840"/>
            <a:ext cx="54864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00584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120640" y="1005840"/>
            <a:ext cx="54864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00584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669280" y="1005840"/>
            <a:ext cx="54864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100584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217920" y="1005840"/>
            <a:ext cx="54864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00584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766560" y="1005840"/>
            <a:ext cx="54864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100584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315200" y="1005840"/>
            <a:ext cx="54864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100584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863840" y="1005840"/>
            <a:ext cx="64008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0" y="1005840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" y="1289304"/>
            <a:ext cx="1097280" cy="283464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1289304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280160" y="1289304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0160" y="128930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828800" y="1289304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0" y="128930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377440" y="1289304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77440" y="128930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926080" y="1289304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128930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474720" y="1289304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0" y="128930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023360" y="1289304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23360" y="128930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572000" y="1289304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128930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120640" y="1289304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0" y="128930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669280" y="1289304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0" y="128930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217920" y="1289304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0" y="128930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766560" y="1289304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0" y="128930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315200" y="1289304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0" y="128930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863840" y="1289304"/>
            <a:ext cx="64008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63840" y="1289304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127.5%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82880" y="1572768"/>
            <a:ext cx="1097280" cy="283464"/>
          </a:xfrm>
          <a:prstGeom prst="rect">
            <a:avLst/>
          </a:prstGeom>
          <a:solidFill>
            <a:srgbClr val="D4E6F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2880" y="1572768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280160" y="1572768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80160" y="157276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828800" y="1572768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828800" y="157276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2377440" y="1572768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77440" y="157276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926080" y="1572768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926080" y="157276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474720" y="1572768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74720" y="157276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023360" y="1572768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023360" y="157276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572000" y="1572768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0" y="157276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5120640" y="1572768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120640" y="157276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5669280" y="1572768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69280" y="157276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217920" y="1572768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17920" y="157276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6766560" y="1572768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766560" y="157276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7315200" y="1572768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315200" y="157276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7863840" y="1572768"/>
            <a:ext cx="64008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863840" y="1572768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125.2%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182880" y="1856232"/>
            <a:ext cx="1097280" cy="283464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82880" y="1856232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1280160" y="1856232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280160" y="185623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1828800" y="1856232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828800" y="185623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2377440" y="1856232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377440" y="185623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2926080" y="1856232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926080" y="185623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3474720" y="1856232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474720" y="185623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4023360" y="1856232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023360" y="185623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4572000" y="1856232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572000" y="185623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5120640" y="1856232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120640" y="185623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5669280" y="1856232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669280" y="185623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6217920" y="1856232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217920" y="185623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6766560" y="1856232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766560" y="185623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7315200" y="1856232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315200" y="185623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7863840" y="1856232"/>
            <a:ext cx="64008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863840" y="1856232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124.9%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182880" y="2139696"/>
            <a:ext cx="1097280" cy="283464"/>
          </a:xfrm>
          <a:prstGeom prst="rect">
            <a:avLst/>
          </a:prstGeom>
          <a:solidFill>
            <a:srgbClr val="D4E6F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82880" y="213969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1280160" y="2139696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280160" y="213969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1828800" y="2139696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828800" y="213969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2377440" y="2139696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377440" y="213969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2926080" y="2139696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926080" y="213969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3474720" y="2139696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474720" y="213969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4023360" y="2139696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023360" y="213969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4572000" y="2139696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572000" y="213969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5120640" y="2139696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120640" y="213969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5669280" y="2139696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669280" y="213969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6217920" y="2139696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217920" y="213969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6766560" y="2139696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6766560" y="213969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7315200" y="2139696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315200" y="213969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7863840" y="2139696"/>
            <a:ext cx="64008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863840" y="2139696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121.6%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182880" y="2423160"/>
            <a:ext cx="1097280" cy="283464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82880" y="2423160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1280160" y="2423160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280160" y="242316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1828800" y="2423160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828800" y="242316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2377440" y="2423160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2377440" y="242316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2926080" y="2423160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926080" y="242316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3474720" y="2423160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474720" y="242316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4023360" y="2423160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023360" y="242316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750" dirty="0"/>
          </a:p>
        </p:txBody>
      </p:sp>
      <p:sp>
        <p:nvSpPr>
          <p:cNvPr id="159" name="Shape 157"/>
          <p:cNvSpPr/>
          <p:nvPr/>
        </p:nvSpPr>
        <p:spPr>
          <a:xfrm>
            <a:off x="4572000" y="2423160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572000" y="242316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5120640" y="2423160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120640" y="242316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750" dirty="0"/>
          </a:p>
        </p:txBody>
      </p:sp>
      <p:sp>
        <p:nvSpPr>
          <p:cNvPr id="163" name="Shape 161"/>
          <p:cNvSpPr/>
          <p:nvPr/>
        </p:nvSpPr>
        <p:spPr>
          <a:xfrm>
            <a:off x="5669280" y="2423160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669280" y="242316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6217920" y="2423160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217920" y="242316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167" name="Shape 165"/>
          <p:cNvSpPr/>
          <p:nvPr/>
        </p:nvSpPr>
        <p:spPr>
          <a:xfrm>
            <a:off x="6766560" y="2423160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6766560" y="242316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169" name="Shape 167"/>
          <p:cNvSpPr/>
          <p:nvPr/>
        </p:nvSpPr>
        <p:spPr>
          <a:xfrm>
            <a:off x="7315200" y="2423160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7315200" y="242316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171" name="Shape 169"/>
          <p:cNvSpPr/>
          <p:nvPr/>
        </p:nvSpPr>
        <p:spPr>
          <a:xfrm>
            <a:off x="7863840" y="2423160"/>
            <a:ext cx="64008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7863840" y="2423160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119.4%</a:t>
            </a:r>
            <a:endParaRPr lang="en-US" sz="750" dirty="0"/>
          </a:p>
        </p:txBody>
      </p:sp>
      <p:sp>
        <p:nvSpPr>
          <p:cNvPr id="173" name="Shape 171"/>
          <p:cNvSpPr/>
          <p:nvPr/>
        </p:nvSpPr>
        <p:spPr>
          <a:xfrm>
            <a:off x="182880" y="2706624"/>
            <a:ext cx="1097280" cy="283464"/>
          </a:xfrm>
          <a:prstGeom prst="rect">
            <a:avLst/>
          </a:prstGeom>
          <a:solidFill>
            <a:srgbClr val="D4E6F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182880" y="2706624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</a:t>
            </a:r>
            <a:endParaRPr lang="en-US" sz="800" dirty="0"/>
          </a:p>
        </p:txBody>
      </p:sp>
      <p:sp>
        <p:nvSpPr>
          <p:cNvPr id="175" name="Shape 173"/>
          <p:cNvSpPr/>
          <p:nvPr/>
        </p:nvSpPr>
        <p:spPr>
          <a:xfrm>
            <a:off x="1280160" y="2706624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1280160" y="270662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>
            <a:off x="1828800" y="2706624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828800" y="270662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750" dirty="0"/>
          </a:p>
        </p:txBody>
      </p:sp>
      <p:sp>
        <p:nvSpPr>
          <p:cNvPr id="179" name="Shape 177"/>
          <p:cNvSpPr/>
          <p:nvPr/>
        </p:nvSpPr>
        <p:spPr>
          <a:xfrm>
            <a:off x="2377440" y="2706624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377440" y="270662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750" dirty="0"/>
          </a:p>
        </p:txBody>
      </p:sp>
      <p:sp>
        <p:nvSpPr>
          <p:cNvPr id="181" name="Shape 179"/>
          <p:cNvSpPr/>
          <p:nvPr/>
        </p:nvSpPr>
        <p:spPr>
          <a:xfrm>
            <a:off x="2926080" y="2706624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2926080" y="270662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750" dirty="0"/>
          </a:p>
        </p:txBody>
      </p:sp>
      <p:sp>
        <p:nvSpPr>
          <p:cNvPr id="183" name="Shape 181"/>
          <p:cNvSpPr/>
          <p:nvPr/>
        </p:nvSpPr>
        <p:spPr>
          <a:xfrm>
            <a:off x="3474720" y="2706624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3474720" y="270662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>
            <a:off x="4023360" y="2706624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4023360" y="270662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750" dirty="0"/>
          </a:p>
        </p:txBody>
      </p:sp>
      <p:sp>
        <p:nvSpPr>
          <p:cNvPr id="187" name="Shape 185"/>
          <p:cNvSpPr/>
          <p:nvPr/>
        </p:nvSpPr>
        <p:spPr>
          <a:xfrm>
            <a:off x="4572000" y="2706624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4572000" y="270662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750" dirty="0"/>
          </a:p>
        </p:txBody>
      </p:sp>
      <p:sp>
        <p:nvSpPr>
          <p:cNvPr id="189" name="Shape 187"/>
          <p:cNvSpPr/>
          <p:nvPr/>
        </p:nvSpPr>
        <p:spPr>
          <a:xfrm>
            <a:off x="5120640" y="2706624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5120640" y="270662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191" name="Shape 189"/>
          <p:cNvSpPr/>
          <p:nvPr/>
        </p:nvSpPr>
        <p:spPr>
          <a:xfrm>
            <a:off x="5669280" y="2706624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5669280" y="270662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193" name="Shape 191"/>
          <p:cNvSpPr/>
          <p:nvPr/>
        </p:nvSpPr>
        <p:spPr>
          <a:xfrm>
            <a:off x="6217920" y="2706624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6217920" y="270662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195" name="Shape 193"/>
          <p:cNvSpPr/>
          <p:nvPr/>
        </p:nvSpPr>
        <p:spPr>
          <a:xfrm>
            <a:off x="6766560" y="2706624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6766560" y="270662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197" name="Shape 195"/>
          <p:cNvSpPr/>
          <p:nvPr/>
        </p:nvSpPr>
        <p:spPr>
          <a:xfrm>
            <a:off x="7315200" y="2706624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7315200" y="270662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199" name="Shape 197"/>
          <p:cNvSpPr/>
          <p:nvPr/>
        </p:nvSpPr>
        <p:spPr>
          <a:xfrm>
            <a:off x="7863840" y="2706624"/>
            <a:ext cx="64008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7863840" y="2706624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117.4%</a:t>
            </a:r>
            <a:endParaRPr lang="en-US" sz="750" dirty="0"/>
          </a:p>
        </p:txBody>
      </p:sp>
      <p:sp>
        <p:nvSpPr>
          <p:cNvPr id="201" name="Shape 199"/>
          <p:cNvSpPr/>
          <p:nvPr/>
        </p:nvSpPr>
        <p:spPr>
          <a:xfrm>
            <a:off x="182880" y="2990088"/>
            <a:ext cx="1097280" cy="283464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182880" y="2990088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1280160" y="2990088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1280160" y="299008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205" name="Shape 203"/>
          <p:cNvSpPr/>
          <p:nvPr/>
        </p:nvSpPr>
        <p:spPr>
          <a:xfrm>
            <a:off x="1828800" y="2990088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1828800" y="299008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750" dirty="0"/>
          </a:p>
        </p:txBody>
      </p:sp>
      <p:sp>
        <p:nvSpPr>
          <p:cNvPr id="207" name="Shape 205"/>
          <p:cNvSpPr/>
          <p:nvPr/>
        </p:nvSpPr>
        <p:spPr>
          <a:xfrm>
            <a:off x="2377440" y="2990088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2377440" y="299008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750" dirty="0"/>
          </a:p>
        </p:txBody>
      </p:sp>
      <p:sp>
        <p:nvSpPr>
          <p:cNvPr id="209" name="Shape 207"/>
          <p:cNvSpPr/>
          <p:nvPr/>
        </p:nvSpPr>
        <p:spPr>
          <a:xfrm>
            <a:off x="2926080" y="2990088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2926080" y="299008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750" dirty="0"/>
          </a:p>
        </p:txBody>
      </p:sp>
      <p:sp>
        <p:nvSpPr>
          <p:cNvPr id="211" name="Shape 209"/>
          <p:cNvSpPr/>
          <p:nvPr/>
        </p:nvSpPr>
        <p:spPr>
          <a:xfrm>
            <a:off x="3474720" y="2990088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3474720" y="299008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750" dirty="0"/>
          </a:p>
        </p:txBody>
      </p:sp>
      <p:sp>
        <p:nvSpPr>
          <p:cNvPr id="213" name="Shape 211"/>
          <p:cNvSpPr/>
          <p:nvPr/>
        </p:nvSpPr>
        <p:spPr>
          <a:xfrm>
            <a:off x="4023360" y="2990088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4023360" y="299008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750" dirty="0"/>
          </a:p>
        </p:txBody>
      </p:sp>
      <p:sp>
        <p:nvSpPr>
          <p:cNvPr id="215" name="Shape 213"/>
          <p:cNvSpPr/>
          <p:nvPr/>
        </p:nvSpPr>
        <p:spPr>
          <a:xfrm>
            <a:off x="4572000" y="2990088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4572000" y="299008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750" dirty="0"/>
          </a:p>
        </p:txBody>
      </p:sp>
      <p:sp>
        <p:nvSpPr>
          <p:cNvPr id="217" name="Shape 215"/>
          <p:cNvSpPr/>
          <p:nvPr/>
        </p:nvSpPr>
        <p:spPr>
          <a:xfrm>
            <a:off x="5120640" y="2990088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5120640" y="299008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19" name="Shape 217"/>
          <p:cNvSpPr/>
          <p:nvPr/>
        </p:nvSpPr>
        <p:spPr>
          <a:xfrm>
            <a:off x="5669280" y="2990088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5669280" y="299008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21" name="Shape 219"/>
          <p:cNvSpPr/>
          <p:nvPr/>
        </p:nvSpPr>
        <p:spPr>
          <a:xfrm>
            <a:off x="6217920" y="2990088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6217920" y="299008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23" name="Shape 221"/>
          <p:cNvSpPr/>
          <p:nvPr/>
        </p:nvSpPr>
        <p:spPr>
          <a:xfrm>
            <a:off x="6766560" y="2990088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6766560" y="299008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25" name="Shape 223"/>
          <p:cNvSpPr/>
          <p:nvPr/>
        </p:nvSpPr>
        <p:spPr>
          <a:xfrm>
            <a:off x="7315200" y="2990088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7315200" y="299008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27" name="Shape 225"/>
          <p:cNvSpPr/>
          <p:nvPr/>
        </p:nvSpPr>
        <p:spPr>
          <a:xfrm>
            <a:off x="7863840" y="2990088"/>
            <a:ext cx="64008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7863840" y="2990088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114.2%</a:t>
            </a:r>
            <a:endParaRPr lang="en-US" sz="750" dirty="0"/>
          </a:p>
        </p:txBody>
      </p:sp>
      <p:sp>
        <p:nvSpPr>
          <p:cNvPr id="229" name="Shape 227"/>
          <p:cNvSpPr/>
          <p:nvPr/>
        </p:nvSpPr>
        <p:spPr>
          <a:xfrm>
            <a:off x="182880" y="3273552"/>
            <a:ext cx="1097280" cy="283464"/>
          </a:xfrm>
          <a:prstGeom prst="rect">
            <a:avLst/>
          </a:prstGeom>
          <a:solidFill>
            <a:srgbClr val="D4E6F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182880" y="3273552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</a:t>
            </a:r>
            <a:endParaRPr lang="en-US" sz="800" dirty="0"/>
          </a:p>
        </p:txBody>
      </p:sp>
      <p:sp>
        <p:nvSpPr>
          <p:cNvPr id="231" name="Shape 229"/>
          <p:cNvSpPr/>
          <p:nvPr/>
        </p:nvSpPr>
        <p:spPr>
          <a:xfrm>
            <a:off x="1280160" y="3273552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280160" y="327355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233" name="Shape 231"/>
          <p:cNvSpPr/>
          <p:nvPr/>
        </p:nvSpPr>
        <p:spPr>
          <a:xfrm>
            <a:off x="1828800" y="3273552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1828800" y="327355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750" dirty="0"/>
          </a:p>
        </p:txBody>
      </p:sp>
      <p:sp>
        <p:nvSpPr>
          <p:cNvPr id="235" name="Shape 233"/>
          <p:cNvSpPr/>
          <p:nvPr/>
        </p:nvSpPr>
        <p:spPr>
          <a:xfrm>
            <a:off x="2377440" y="3273552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2377440" y="327355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750" dirty="0"/>
          </a:p>
        </p:txBody>
      </p:sp>
      <p:sp>
        <p:nvSpPr>
          <p:cNvPr id="237" name="Shape 235"/>
          <p:cNvSpPr/>
          <p:nvPr/>
        </p:nvSpPr>
        <p:spPr>
          <a:xfrm>
            <a:off x="2926080" y="3273552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2926080" y="327355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750" dirty="0"/>
          </a:p>
        </p:txBody>
      </p:sp>
      <p:sp>
        <p:nvSpPr>
          <p:cNvPr id="239" name="Shape 237"/>
          <p:cNvSpPr/>
          <p:nvPr/>
        </p:nvSpPr>
        <p:spPr>
          <a:xfrm>
            <a:off x="3474720" y="3273552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3474720" y="327355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750" dirty="0"/>
          </a:p>
        </p:txBody>
      </p:sp>
      <p:sp>
        <p:nvSpPr>
          <p:cNvPr id="241" name="Shape 239"/>
          <p:cNvSpPr/>
          <p:nvPr/>
        </p:nvSpPr>
        <p:spPr>
          <a:xfrm>
            <a:off x="4023360" y="3273552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4023360" y="327355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43" name="Shape 241"/>
          <p:cNvSpPr/>
          <p:nvPr/>
        </p:nvSpPr>
        <p:spPr>
          <a:xfrm>
            <a:off x="4572000" y="3273552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4572000" y="327355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45" name="Shape 243"/>
          <p:cNvSpPr/>
          <p:nvPr/>
        </p:nvSpPr>
        <p:spPr>
          <a:xfrm>
            <a:off x="5120640" y="3273552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5120640" y="327355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47" name="Shape 245"/>
          <p:cNvSpPr/>
          <p:nvPr/>
        </p:nvSpPr>
        <p:spPr>
          <a:xfrm>
            <a:off x="5669280" y="3273552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5669280" y="327355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49" name="Shape 247"/>
          <p:cNvSpPr/>
          <p:nvPr/>
        </p:nvSpPr>
        <p:spPr>
          <a:xfrm>
            <a:off x="6217920" y="3273552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6217920" y="327355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51" name="Shape 249"/>
          <p:cNvSpPr/>
          <p:nvPr/>
        </p:nvSpPr>
        <p:spPr>
          <a:xfrm>
            <a:off x="6766560" y="3273552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6766560" y="327355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53" name="Shape 251"/>
          <p:cNvSpPr/>
          <p:nvPr/>
        </p:nvSpPr>
        <p:spPr>
          <a:xfrm>
            <a:off x="7315200" y="3273552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7315200" y="327355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55" name="Shape 253"/>
          <p:cNvSpPr/>
          <p:nvPr/>
        </p:nvSpPr>
        <p:spPr>
          <a:xfrm>
            <a:off x="7863840" y="3273552"/>
            <a:ext cx="64008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7863840" y="3273552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113.6%</a:t>
            </a:r>
            <a:endParaRPr lang="en-US" sz="750" dirty="0"/>
          </a:p>
        </p:txBody>
      </p:sp>
      <p:sp>
        <p:nvSpPr>
          <p:cNvPr id="257" name="Shape 255"/>
          <p:cNvSpPr/>
          <p:nvPr/>
        </p:nvSpPr>
        <p:spPr>
          <a:xfrm>
            <a:off x="182880" y="3557016"/>
            <a:ext cx="1097280" cy="283464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182880" y="355701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800" dirty="0"/>
          </a:p>
        </p:txBody>
      </p:sp>
      <p:sp>
        <p:nvSpPr>
          <p:cNvPr id="259" name="Shape 257"/>
          <p:cNvSpPr/>
          <p:nvPr/>
        </p:nvSpPr>
        <p:spPr>
          <a:xfrm>
            <a:off x="1280160" y="3557016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1280160" y="355701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261" name="Shape 259"/>
          <p:cNvSpPr/>
          <p:nvPr/>
        </p:nvSpPr>
        <p:spPr>
          <a:xfrm>
            <a:off x="1828800" y="3557016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1828800" y="355701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750" dirty="0"/>
          </a:p>
        </p:txBody>
      </p:sp>
      <p:sp>
        <p:nvSpPr>
          <p:cNvPr id="263" name="Shape 261"/>
          <p:cNvSpPr/>
          <p:nvPr/>
        </p:nvSpPr>
        <p:spPr>
          <a:xfrm>
            <a:off x="2377440" y="3557016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2377440" y="355701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750" dirty="0"/>
          </a:p>
        </p:txBody>
      </p:sp>
      <p:sp>
        <p:nvSpPr>
          <p:cNvPr id="265" name="Shape 263"/>
          <p:cNvSpPr/>
          <p:nvPr/>
        </p:nvSpPr>
        <p:spPr>
          <a:xfrm>
            <a:off x="2926080" y="3557016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2926080" y="355701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750" dirty="0"/>
          </a:p>
        </p:txBody>
      </p:sp>
      <p:sp>
        <p:nvSpPr>
          <p:cNvPr id="267" name="Shape 265"/>
          <p:cNvSpPr/>
          <p:nvPr/>
        </p:nvSpPr>
        <p:spPr>
          <a:xfrm>
            <a:off x="3474720" y="3557016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3474720" y="355701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69" name="Shape 267"/>
          <p:cNvSpPr/>
          <p:nvPr/>
        </p:nvSpPr>
        <p:spPr>
          <a:xfrm>
            <a:off x="4023360" y="3557016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4023360" y="355701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71" name="Shape 269"/>
          <p:cNvSpPr/>
          <p:nvPr/>
        </p:nvSpPr>
        <p:spPr>
          <a:xfrm>
            <a:off x="4572000" y="3557016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4572000" y="355701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73" name="Shape 271"/>
          <p:cNvSpPr/>
          <p:nvPr/>
        </p:nvSpPr>
        <p:spPr>
          <a:xfrm>
            <a:off x="5120640" y="3557016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5120640" y="355701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75" name="Shape 273"/>
          <p:cNvSpPr/>
          <p:nvPr/>
        </p:nvSpPr>
        <p:spPr>
          <a:xfrm>
            <a:off x="5669280" y="3557016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5669280" y="355701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77" name="Shape 275"/>
          <p:cNvSpPr/>
          <p:nvPr/>
        </p:nvSpPr>
        <p:spPr>
          <a:xfrm>
            <a:off x="6217920" y="3557016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6217920" y="355701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79" name="Shape 277"/>
          <p:cNvSpPr/>
          <p:nvPr/>
        </p:nvSpPr>
        <p:spPr>
          <a:xfrm>
            <a:off x="6766560" y="3557016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6766560" y="355701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81" name="Shape 279"/>
          <p:cNvSpPr/>
          <p:nvPr/>
        </p:nvSpPr>
        <p:spPr>
          <a:xfrm>
            <a:off x="7315200" y="3557016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7315200" y="355701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83" name="Shape 281"/>
          <p:cNvSpPr/>
          <p:nvPr/>
        </p:nvSpPr>
        <p:spPr>
          <a:xfrm>
            <a:off x="7863840" y="3557016"/>
            <a:ext cx="64008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7863840" y="3557016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110.0%</a:t>
            </a:r>
            <a:endParaRPr lang="en-US" sz="750" dirty="0"/>
          </a:p>
        </p:txBody>
      </p:sp>
      <p:sp>
        <p:nvSpPr>
          <p:cNvPr id="285" name="Shape 283"/>
          <p:cNvSpPr/>
          <p:nvPr/>
        </p:nvSpPr>
        <p:spPr>
          <a:xfrm>
            <a:off x="182880" y="3840480"/>
            <a:ext cx="1097280" cy="283464"/>
          </a:xfrm>
          <a:prstGeom prst="rect">
            <a:avLst/>
          </a:prstGeom>
          <a:solidFill>
            <a:srgbClr val="D4E6F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182880" y="3840480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</a:t>
            </a:r>
            <a:endParaRPr lang="en-US" sz="800" dirty="0"/>
          </a:p>
        </p:txBody>
      </p:sp>
      <p:sp>
        <p:nvSpPr>
          <p:cNvPr id="287" name="Shape 285"/>
          <p:cNvSpPr/>
          <p:nvPr/>
        </p:nvSpPr>
        <p:spPr>
          <a:xfrm>
            <a:off x="1280160" y="3840480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1280160" y="384048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289" name="Shape 287"/>
          <p:cNvSpPr/>
          <p:nvPr/>
        </p:nvSpPr>
        <p:spPr>
          <a:xfrm>
            <a:off x="1828800" y="3840480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1828800" y="384048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750" dirty="0"/>
          </a:p>
        </p:txBody>
      </p:sp>
      <p:sp>
        <p:nvSpPr>
          <p:cNvPr id="291" name="Shape 289"/>
          <p:cNvSpPr/>
          <p:nvPr/>
        </p:nvSpPr>
        <p:spPr>
          <a:xfrm>
            <a:off x="2377440" y="3840480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2377440" y="384048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750" dirty="0"/>
          </a:p>
        </p:txBody>
      </p:sp>
      <p:sp>
        <p:nvSpPr>
          <p:cNvPr id="293" name="Shape 291"/>
          <p:cNvSpPr/>
          <p:nvPr/>
        </p:nvSpPr>
        <p:spPr>
          <a:xfrm>
            <a:off x="2926080" y="3840480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2926080" y="384048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95" name="Shape 293"/>
          <p:cNvSpPr/>
          <p:nvPr/>
        </p:nvSpPr>
        <p:spPr>
          <a:xfrm>
            <a:off x="3474720" y="3840480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3474720" y="384048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97" name="Shape 295"/>
          <p:cNvSpPr/>
          <p:nvPr/>
        </p:nvSpPr>
        <p:spPr>
          <a:xfrm>
            <a:off x="4023360" y="3840480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4023360" y="384048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299" name="Shape 297"/>
          <p:cNvSpPr/>
          <p:nvPr/>
        </p:nvSpPr>
        <p:spPr>
          <a:xfrm>
            <a:off x="4572000" y="3840480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4572000" y="384048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01" name="Shape 299"/>
          <p:cNvSpPr/>
          <p:nvPr/>
        </p:nvSpPr>
        <p:spPr>
          <a:xfrm>
            <a:off x="5120640" y="3840480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5120640" y="384048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03" name="Shape 301"/>
          <p:cNvSpPr/>
          <p:nvPr/>
        </p:nvSpPr>
        <p:spPr>
          <a:xfrm>
            <a:off x="5669280" y="3840480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4" name="Text 302"/>
          <p:cNvSpPr/>
          <p:nvPr/>
        </p:nvSpPr>
        <p:spPr>
          <a:xfrm>
            <a:off x="5669280" y="384048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05" name="Shape 303"/>
          <p:cNvSpPr/>
          <p:nvPr/>
        </p:nvSpPr>
        <p:spPr>
          <a:xfrm>
            <a:off x="6217920" y="3840480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6217920" y="384048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07" name="Shape 305"/>
          <p:cNvSpPr/>
          <p:nvPr/>
        </p:nvSpPr>
        <p:spPr>
          <a:xfrm>
            <a:off x="6766560" y="3840480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6766560" y="384048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09" name="Shape 307"/>
          <p:cNvSpPr/>
          <p:nvPr/>
        </p:nvSpPr>
        <p:spPr>
          <a:xfrm>
            <a:off x="7315200" y="3840480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7315200" y="384048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11" name="Shape 309"/>
          <p:cNvSpPr/>
          <p:nvPr/>
        </p:nvSpPr>
        <p:spPr>
          <a:xfrm>
            <a:off x="7863840" y="3840480"/>
            <a:ext cx="64008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7863840" y="3840480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108.9%</a:t>
            </a:r>
            <a:endParaRPr lang="en-US" sz="750" dirty="0"/>
          </a:p>
        </p:txBody>
      </p:sp>
      <p:sp>
        <p:nvSpPr>
          <p:cNvPr id="313" name="Shape 311"/>
          <p:cNvSpPr/>
          <p:nvPr/>
        </p:nvSpPr>
        <p:spPr>
          <a:xfrm>
            <a:off x="182880" y="4123944"/>
            <a:ext cx="1097280" cy="283464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182880" y="4123944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</a:t>
            </a:r>
            <a:endParaRPr lang="en-US" sz="800" dirty="0"/>
          </a:p>
        </p:txBody>
      </p:sp>
      <p:sp>
        <p:nvSpPr>
          <p:cNvPr id="315" name="Shape 313"/>
          <p:cNvSpPr/>
          <p:nvPr/>
        </p:nvSpPr>
        <p:spPr>
          <a:xfrm>
            <a:off x="1280160" y="4123944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1280160" y="412394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317" name="Shape 315"/>
          <p:cNvSpPr/>
          <p:nvPr/>
        </p:nvSpPr>
        <p:spPr>
          <a:xfrm>
            <a:off x="1828800" y="4123944"/>
            <a:ext cx="54864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1828800" y="412394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750" dirty="0"/>
          </a:p>
        </p:txBody>
      </p:sp>
      <p:sp>
        <p:nvSpPr>
          <p:cNvPr id="319" name="Shape 317"/>
          <p:cNvSpPr/>
          <p:nvPr/>
        </p:nvSpPr>
        <p:spPr>
          <a:xfrm>
            <a:off x="2377440" y="4123944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2377440" y="412394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21" name="Shape 319"/>
          <p:cNvSpPr/>
          <p:nvPr/>
        </p:nvSpPr>
        <p:spPr>
          <a:xfrm>
            <a:off x="2926080" y="4123944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2" name="Text 320"/>
          <p:cNvSpPr/>
          <p:nvPr/>
        </p:nvSpPr>
        <p:spPr>
          <a:xfrm>
            <a:off x="2926080" y="412394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23" name="Shape 321"/>
          <p:cNvSpPr/>
          <p:nvPr/>
        </p:nvSpPr>
        <p:spPr>
          <a:xfrm>
            <a:off x="3474720" y="4123944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4" name="Text 322"/>
          <p:cNvSpPr/>
          <p:nvPr/>
        </p:nvSpPr>
        <p:spPr>
          <a:xfrm>
            <a:off x="3474720" y="412394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25" name="Shape 323"/>
          <p:cNvSpPr/>
          <p:nvPr/>
        </p:nvSpPr>
        <p:spPr>
          <a:xfrm>
            <a:off x="4023360" y="4123944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6" name="Text 324"/>
          <p:cNvSpPr/>
          <p:nvPr/>
        </p:nvSpPr>
        <p:spPr>
          <a:xfrm>
            <a:off x="4023360" y="412394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27" name="Shape 325"/>
          <p:cNvSpPr/>
          <p:nvPr/>
        </p:nvSpPr>
        <p:spPr>
          <a:xfrm>
            <a:off x="4572000" y="4123944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8" name="Text 326"/>
          <p:cNvSpPr/>
          <p:nvPr/>
        </p:nvSpPr>
        <p:spPr>
          <a:xfrm>
            <a:off x="4572000" y="412394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29" name="Shape 327"/>
          <p:cNvSpPr/>
          <p:nvPr/>
        </p:nvSpPr>
        <p:spPr>
          <a:xfrm>
            <a:off x="5120640" y="4123944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0" name="Text 328"/>
          <p:cNvSpPr/>
          <p:nvPr/>
        </p:nvSpPr>
        <p:spPr>
          <a:xfrm>
            <a:off x="5120640" y="412394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31" name="Shape 329"/>
          <p:cNvSpPr/>
          <p:nvPr/>
        </p:nvSpPr>
        <p:spPr>
          <a:xfrm>
            <a:off x="5669280" y="4123944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2" name="Text 330"/>
          <p:cNvSpPr/>
          <p:nvPr/>
        </p:nvSpPr>
        <p:spPr>
          <a:xfrm>
            <a:off x="5669280" y="412394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33" name="Shape 331"/>
          <p:cNvSpPr/>
          <p:nvPr/>
        </p:nvSpPr>
        <p:spPr>
          <a:xfrm>
            <a:off x="6217920" y="4123944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4" name="Text 332"/>
          <p:cNvSpPr/>
          <p:nvPr/>
        </p:nvSpPr>
        <p:spPr>
          <a:xfrm>
            <a:off x="6217920" y="412394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35" name="Shape 333"/>
          <p:cNvSpPr/>
          <p:nvPr/>
        </p:nvSpPr>
        <p:spPr>
          <a:xfrm>
            <a:off x="6766560" y="4123944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6" name="Text 334"/>
          <p:cNvSpPr/>
          <p:nvPr/>
        </p:nvSpPr>
        <p:spPr>
          <a:xfrm>
            <a:off x="6766560" y="412394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37" name="Shape 335"/>
          <p:cNvSpPr/>
          <p:nvPr/>
        </p:nvSpPr>
        <p:spPr>
          <a:xfrm>
            <a:off x="7315200" y="4123944"/>
            <a:ext cx="5486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8" name="Text 336"/>
          <p:cNvSpPr/>
          <p:nvPr/>
        </p:nvSpPr>
        <p:spPr>
          <a:xfrm>
            <a:off x="7315200" y="412394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39" name="Shape 337"/>
          <p:cNvSpPr/>
          <p:nvPr/>
        </p:nvSpPr>
        <p:spPr>
          <a:xfrm>
            <a:off x="7863840" y="4123944"/>
            <a:ext cx="64008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7863840" y="4123944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104.3%</a:t>
            </a:r>
            <a:endParaRPr lang="en-US" sz="750" dirty="0"/>
          </a:p>
        </p:txBody>
      </p:sp>
      <p:sp>
        <p:nvSpPr>
          <p:cNvPr id="341" name="Shape 339"/>
          <p:cNvSpPr/>
          <p:nvPr/>
        </p:nvSpPr>
        <p:spPr>
          <a:xfrm>
            <a:off x="182880" y="4407408"/>
            <a:ext cx="1097280" cy="283464"/>
          </a:xfrm>
          <a:prstGeom prst="rect">
            <a:avLst/>
          </a:prstGeom>
          <a:solidFill>
            <a:srgbClr val="D4E6F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2" name="Text 340"/>
          <p:cNvSpPr/>
          <p:nvPr/>
        </p:nvSpPr>
        <p:spPr>
          <a:xfrm>
            <a:off x="182880" y="4407408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</a:t>
            </a:r>
            <a:endParaRPr lang="en-US" sz="800" dirty="0"/>
          </a:p>
        </p:txBody>
      </p:sp>
      <p:sp>
        <p:nvSpPr>
          <p:cNvPr id="343" name="Shape 341"/>
          <p:cNvSpPr/>
          <p:nvPr/>
        </p:nvSpPr>
        <p:spPr>
          <a:xfrm>
            <a:off x="1280160" y="4407408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4" name="Text 342"/>
          <p:cNvSpPr/>
          <p:nvPr/>
        </p:nvSpPr>
        <p:spPr>
          <a:xfrm>
            <a:off x="1280160" y="440740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345" name="Shape 343"/>
          <p:cNvSpPr/>
          <p:nvPr/>
        </p:nvSpPr>
        <p:spPr>
          <a:xfrm>
            <a:off x="1828800" y="4407408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6" name="Text 344"/>
          <p:cNvSpPr/>
          <p:nvPr/>
        </p:nvSpPr>
        <p:spPr>
          <a:xfrm>
            <a:off x="1828800" y="440740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47" name="Shape 345"/>
          <p:cNvSpPr/>
          <p:nvPr/>
        </p:nvSpPr>
        <p:spPr>
          <a:xfrm>
            <a:off x="2377440" y="4407408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8" name="Text 346"/>
          <p:cNvSpPr/>
          <p:nvPr/>
        </p:nvSpPr>
        <p:spPr>
          <a:xfrm>
            <a:off x="2377440" y="440740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49" name="Shape 347"/>
          <p:cNvSpPr/>
          <p:nvPr/>
        </p:nvSpPr>
        <p:spPr>
          <a:xfrm>
            <a:off x="2926080" y="4407408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0" name="Text 348"/>
          <p:cNvSpPr/>
          <p:nvPr/>
        </p:nvSpPr>
        <p:spPr>
          <a:xfrm>
            <a:off x="2926080" y="440740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51" name="Shape 349"/>
          <p:cNvSpPr/>
          <p:nvPr/>
        </p:nvSpPr>
        <p:spPr>
          <a:xfrm>
            <a:off x="3474720" y="4407408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2" name="Text 350"/>
          <p:cNvSpPr/>
          <p:nvPr/>
        </p:nvSpPr>
        <p:spPr>
          <a:xfrm>
            <a:off x="3474720" y="440740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53" name="Shape 351"/>
          <p:cNvSpPr/>
          <p:nvPr/>
        </p:nvSpPr>
        <p:spPr>
          <a:xfrm>
            <a:off x="4023360" y="4407408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4" name="Text 352"/>
          <p:cNvSpPr/>
          <p:nvPr/>
        </p:nvSpPr>
        <p:spPr>
          <a:xfrm>
            <a:off x="4023360" y="440740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55" name="Shape 353"/>
          <p:cNvSpPr/>
          <p:nvPr/>
        </p:nvSpPr>
        <p:spPr>
          <a:xfrm>
            <a:off x="4572000" y="4407408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6" name="Text 354"/>
          <p:cNvSpPr/>
          <p:nvPr/>
        </p:nvSpPr>
        <p:spPr>
          <a:xfrm>
            <a:off x="4572000" y="440740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57" name="Shape 355"/>
          <p:cNvSpPr/>
          <p:nvPr/>
        </p:nvSpPr>
        <p:spPr>
          <a:xfrm>
            <a:off x="5120640" y="4407408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8" name="Text 356"/>
          <p:cNvSpPr/>
          <p:nvPr/>
        </p:nvSpPr>
        <p:spPr>
          <a:xfrm>
            <a:off x="5120640" y="440740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59" name="Shape 357"/>
          <p:cNvSpPr/>
          <p:nvPr/>
        </p:nvSpPr>
        <p:spPr>
          <a:xfrm>
            <a:off x="5669280" y="4407408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0" name="Text 358"/>
          <p:cNvSpPr/>
          <p:nvPr/>
        </p:nvSpPr>
        <p:spPr>
          <a:xfrm>
            <a:off x="5669280" y="440740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61" name="Shape 359"/>
          <p:cNvSpPr/>
          <p:nvPr/>
        </p:nvSpPr>
        <p:spPr>
          <a:xfrm>
            <a:off x="6217920" y="4407408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2" name="Text 360"/>
          <p:cNvSpPr/>
          <p:nvPr/>
        </p:nvSpPr>
        <p:spPr>
          <a:xfrm>
            <a:off x="6217920" y="440740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63" name="Shape 361"/>
          <p:cNvSpPr/>
          <p:nvPr/>
        </p:nvSpPr>
        <p:spPr>
          <a:xfrm>
            <a:off x="6766560" y="4407408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4" name="Text 362"/>
          <p:cNvSpPr/>
          <p:nvPr/>
        </p:nvSpPr>
        <p:spPr>
          <a:xfrm>
            <a:off x="6766560" y="440740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65" name="Shape 363"/>
          <p:cNvSpPr/>
          <p:nvPr/>
        </p:nvSpPr>
        <p:spPr>
          <a:xfrm>
            <a:off x="7315200" y="4407408"/>
            <a:ext cx="5486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6" name="Text 364"/>
          <p:cNvSpPr/>
          <p:nvPr/>
        </p:nvSpPr>
        <p:spPr>
          <a:xfrm>
            <a:off x="7315200" y="440740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367" name="Shape 365"/>
          <p:cNvSpPr/>
          <p:nvPr/>
        </p:nvSpPr>
        <p:spPr>
          <a:xfrm>
            <a:off x="7863840" y="4407408"/>
            <a:ext cx="640080" cy="283464"/>
          </a:xfrm>
          <a:prstGeom prst="rect">
            <a:avLst/>
          </a:prstGeom>
          <a:solidFill>
            <a:srgbClr val="FEF9C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8" name="Text 366"/>
          <p:cNvSpPr/>
          <p:nvPr/>
        </p:nvSpPr>
        <p:spPr>
          <a:xfrm>
            <a:off x="7863840" y="4407408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750" dirty="0"/>
          </a:p>
        </p:txBody>
      </p:sp>
      <p:sp>
        <p:nvSpPr>
          <p:cNvPr id="369" name="Shape 367"/>
          <p:cNvSpPr/>
          <p:nvPr/>
        </p:nvSpPr>
        <p:spPr>
          <a:xfrm>
            <a:off x="182880" y="4663440"/>
            <a:ext cx="320040" cy="182880"/>
          </a:xfrm>
          <a:prstGeom prst="rect">
            <a:avLst/>
          </a:prstGeom>
          <a:solidFill>
            <a:srgbClr val="FEF9C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0" name="Text 368"/>
          <p:cNvSpPr/>
          <p:nvPr/>
        </p:nvSpPr>
        <p:spPr>
          <a:xfrm>
            <a:off x="548640" y="4663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aktif</a:t>
            </a:r>
            <a:endParaRPr lang="en-US" sz="850" dirty="0"/>
          </a:p>
        </p:txBody>
      </p:sp>
      <p:sp>
        <p:nvSpPr>
          <p:cNvPr id="371" name="Shape 369"/>
          <p:cNvSpPr/>
          <p:nvPr/>
        </p:nvSpPr>
        <p:spPr>
          <a:xfrm>
            <a:off x="2743200" y="4663440"/>
            <a:ext cx="320040" cy="182880"/>
          </a:xfrm>
          <a:prstGeom prst="rect">
            <a:avLst/>
          </a:prstGeom>
          <a:solidFill>
            <a:srgbClr val="D4E6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2" name="Text 370"/>
          <p:cNvSpPr/>
          <p:nvPr/>
        </p:nvSpPr>
        <p:spPr>
          <a:xfrm>
            <a:off x="3108960" y="4663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group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Churn Rate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6400800" cy="1645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234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CHURN TERTINGGI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627632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PERIODE 1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274320" y="3063240"/>
            <a:ext cx="1920240" cy="173736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32004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3886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Retention P0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42793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akuisisi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23160" y="3063240"/>
            <a:ext cx="192024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23160" y="32004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4.42%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23160" y="3886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Retention P1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23160" y="42793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Sisa yang kembali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0" y="3063240"/>
            <a:ext cx="1920240" cy="1737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32004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95.58%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0" y="3886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Churn P1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42793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di bulan pertama!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20840" y="3063240"/>
            <a:ext cx="1920240" cy="173736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32004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97.36%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20840" y="3886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Churn (Max)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20840" y="42793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terburuk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Churn per Cohort &amp; Pola Retensi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0584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1005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Retensi Setelah Period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760720" y="150876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172200" y="1536192"/>
            <a:ext cx="2263323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81243" y="150876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4.42%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60720" y="187452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72200" y="1901952"/>
            <a:ext cx="135697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74890" y="187452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2.65%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60720" y="224028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72200" y="2267712"/>
            <a:ext cx="1264798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82718" y="22402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2.47%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760720" y="260604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72200" y="2633472"/>
            <a:ext cx="1387693" cy="2286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05613" y="26060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2.71%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60720" y="297180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172200" y="2999232"/>
            <a:ext cx="1218712" cy="2286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36632" y="29718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2.38%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760720" y="333756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172200" y="3364992"/>
            <a:ext cx="1157265" cy="2286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75185" y="333756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2.26%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760720" y="370332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172200" y="3730752"/>
            <a:ext cx="1213592" cy="2286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31512" y="370332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2.37%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760720" y="406908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172200" y="4096512"/>
            <a:ext cx="952439" cy="2286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70359" y="40690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1.86%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760720" y="4617720"/>
            <a:ext cx="3200400" cy="320040"/>
          </a:xfrm>
          <a:prstGeom prst="rect">
            <a:avLst/>
          </a:prstGeom>
          <a:solidFill>
            <a:srgbClr val="E8F8EF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4617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Stabil di 2-3% mulai Period 2 = Loyal Customer Segment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REKOMENDASI STRATEGIS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Langkah Aksi Berdasarkan Data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25196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Perkuat Onboarding (30 Hari Pertama)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95%+ terjadi di Period 1. Welcome sequence, tutorial produk, dan insentif kembali berbelanja dalam 30 hari pertama sangat kritis.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9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4251960" cy="6400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070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 Program Loyalitas untuk Loyal Segment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62763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Pelanggan yang melewati Period 2 adalah loyal customer (retensi stabil 2-3%). Program rewards dan personalisasi akan memaksimalkan LTV mereka.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63240"/>
            <a:ext cx="42519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1729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Investigasi &amp; Perbaiki Cancel 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59359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rate 24.78% di funnel sangat tinggi. Perbaiki UX checkout, opsi pembayaran, dan kebijakan pengembalian untuk mengurangi pembatalan.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63240"/>
            <a:ext cx="4251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1729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Strategi Khusus Cohort Februari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59359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Februari memiliki churn tertinggi (97.36%). Perlu analisis mendalam faktor seasonality dan campaign yang berbeda untuk akuisisi bulan tersebut.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2E75B6">
              <a:alpha val="20000"/>
            </a:srgbClr>
          </a:solidFill>
          <a:ln w="12700">
            <a:solidFill>
              <a:srgbClr val="2E75B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9844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 tertinggi terjadi pada Period 1 dengan rata-rata 95.58% — ini adalah momen paling kritis dalam customer lifecycle.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16712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Setelah Period 1, retensi menstabil di kisaran 2-3%, menandakan adanya segmen loyal customer yang potensial.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03580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rate 24.78% di funnel adalah red flag yang memerlukan perbaikan segera pada proses checkout dan pengalaman pengguna.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886200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90448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Februari memiliki churn tertinggi (97.36%), sedangkan Maret &amp; Oktober menunjukkan retensi awal yang lebih baik.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Bootcamp  |  Strategic Growth Insights  |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Funnel &amp; Cohort Analysis</dc:title>
  <dc:subject>PptxGenJS Presentation</dc:subject>
  <dc:creator>Data Analyst</dc:creator>
  <cp:lastModifiedBy>Data Analyst</cp:lastModifiedBy>
  <cp:revision>1</cp:revision>
  <dcterms:created xsi:type="dcterms:W3CDTF">2026-04-16T07:54:21Z</dcterms:created>
  <dcterms:modified xsi:type="dcterms:W3CDTF">2026-04-16T07:54:21Z</dcterms:modified>
</cp:coreProperties>
</file>